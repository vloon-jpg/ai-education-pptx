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0972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How AI is Changing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4400" b="1">
                <a:solidFill>
                  <a:srgbClr val="F59E0B"/>
                </a:solidFill>
                <a:latin typeface="Arial Black"/>
              </a:defRPr>
            </a:pPr>
            <a:r>
              <a:t>High School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800" b="0">
                <a:solidFill>
                  <a:srgbClr val="A5B4FC"/>
                </a:solidFill>
                <a:latin typeface="Calibri"/>
              </a:defRPr>
            </a:pPr>
            <a:r>
              <a:t>An exploration of artificial intelligence in today's classrooms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Alex Chen  •  Jordan Rivera  •  Sam Park  •  Taylor Brooks  •  Morgan Liu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400" b="1">
                <a:solidFill>
                  <a:srgbClr val="5B21B6"/>
                </a:solidFill>
                <a:latin typeface="Arial Black"/>
              </a:defRPr>
            </a:pPr>
            <a: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Arial Black"/>
              </a:defRPr>
            </a:pPr>
            <a:r>
              <a:t>Understanding 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800" b="0">
                <a:solidFill>
                  <a:srgbClr val="0F172A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600" b="1">
                <a:solidFill>
                  <a:srgbClr val="5B21B6"/>
                </a:solidFill>
                <a:latin typeface="Arial Black"/>
              </a:defRPr>
            </a:pPr>
            <a:r>
              <a:t>Machines that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AI refers to computer systems</a:t>
            </a:r>
            <a:br/>
            <a:r>
              <a:t>that can perform tasks normally</a:t>
            </a:r>
            <a:br/>
            <a:r>
              <a:t>requiring human intelligence —</a:t>
            </a:r>
            <a:br/>
            <a:r>
              <a:t>learning, problem-solving,</a:t>
            </a:r>
            <a:br/>
            <a:r>
              <a:t>and pattern recognition.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9202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800" b="0">
                <a:solidFill>
                  <a:srgbClr val="0F172A"/>
                </a:solidFill>
                <a:latin typeface="Segoe UI Emoji"/>
              </a:defRPr>
            </a:pPr>
            <a: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600" b="1">
                <a:solidFill>
                  <a:srgbClr val="5B21B6"/>
                </a:solidFill>
                <a:latin typeface="Arial Black"/>
              </a:defRPr>
            </a:pPr>
            <a: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0632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AI uses algorithms and</a:t>
            </a:r>
            <a:br/>
            <a:r>
              <a:t>large amounts of data to</a:t>
            </a:r>
            <a:br/>
            <a:r>
              <a:t>recognize patterns, make</a:t>
            </a:r>
            <a:br/>
            <a:r>
              <a:t>predictions, and improve</a:t>
            </a:r>
            <a:br/>
            <a:r>
              <a:t>over time through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800" b="0">
                <a:solidFill>
                  <a:srgbClr val="0F172A"/>
                </a:solidFill>
                <a:latin typeface="Segoe UI Emoji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600" b="1">
                <a:solidFill>
                  <a:srgbClr val="5B21B6"/>
                </a:solidFill>
                <a:latin typeface="Arial Black"/>
              </a:defRPr>
            </a:pPr>
            <a:r>
              <a:t>Everyday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632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You already use AI daily:</a:t>
            </a:r>
            <a:br/>
            <a:r>
              <a:t>voice assistants (Siri/Alexa),</a:t>
            </a:r>
            <a:br/>
            <a:r>
              <a:t>recommendation systems (Netflix,</a:t>
            </a:r>
            <a:br/>
            <a:r>
              <a:t>Spotify), navigation apps,</a:t>
            </a:r>
            <a:br/>
            <a:r>
              <a:t>and smart replies in messaging.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400" b="0">
                <a:solidFill>
                  <a:srgbClr val="5B21B6"/>
                </a:solidFill>
                <a:latin typeface="Calibri"/>
              </a:defRPr>
            </a:pPr>
            <a:r>
              <a:t>⚡  Did you know?  The term "Artificial Intelligence" was coined in 1956 — but it's only in the last decade that AI has become powerful enough to transform how we learn, work, and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400" b="1">
                <a:solidFill>
                  <a:srgbClr val="5B21B6"/>
                </a:solidFill>
                <a:latin typeface="Arial Black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Arial Black"/>
              </a:defRPr>
            </a:pPr>
            <a:r>
              <a:t>AI in the Learning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48840"/>
            <a:ext cx="41148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200" b="0">
                <a:solidFill>
                  <a:srgbClr val="0F172A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700" b="1">
                <a:solidFill>
                  <a:srgbClr val="5B21B6"/>
                </a:solidFill>
                <a:latin typeface="Arial Black"/>
              </a:defRPr>
            </a:pPr>
            <a:r>
              <a:t>Personalized Tutoring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50" b="0">
                <a:solidFill>
                  <a:srgbClr val="475569"/>
                </a:solidFill>
                <a:latin typeface="Calibri"/>
              </a:defRPr>
            </a:pPr>
            <a:r>
              <a:t>AI adapts to each student's pace</a:t>
            </a:r>
            <a:br/>
            <a:r>
              <a:t>and learning style. Tools like</a:t>
            </a:r>
            <a:br/>
            <a:r>
              <a:t>Khan Academy's Khanmigo offer</a:t>
            </a:r>
            <a:br/>
            <a:r>
              <a:t>one-on-one tutoring tailored to</a:t>
            </a:r>
            <a:br/>
            <a:r>
              <a:t>where you're struggling most.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92024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79" y="214884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200" b="0">
                <a:solidFill>
                  <a:srgbClr val="0F172A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700" b="1">
                <a:solidFill>
                  <a:srgbClr val="4338CA"/>
                </a:solidFill>
                <a:latin typeface="Arial Black"/>
              </a:defRPr>
            </a:pPr>
            <a:r>
              <a:t>Instant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08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50" b="0">
                <a:solidFill>
                  <a:srgbClr val="475569"/>
                </a:solidFill>
                <a:latin typeface="Calibri"/>
              </a:defRPr>
            </a:pPr>
            <a:r>
              <a:t>Unlike waiting days for a</a:t>
            </a:r>
            <a:br/>
            <a:r>
              <a:t>teacher to grade papers, AI</a:t>
            </a:r>
            <a:br/>
            <a:r>
              <a:t>provides immediate feedback on</a:t>
            </a:r>
            <a:br/>
            <a:r>
              <a:t>writing, math problems, and</a:t>
            </a:r>
            <a:br/>
            <a:r>
              <a:t>coding exercises — helping you</a:t>
            </a:r>
            <a:br/>
            <a:r>
              <a:t>improve in real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21488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200" b="0">
                <a:solidFill>
                  <a:srgbClr val="0F172A"/>
                </a:solidFill>
                <a:latin typeface="Segoe UI Emoji"/>
              </a:defRPr>
            </a:pPr>
            <a: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700" b="1">
                <a:solidFill>
                  <a:srgbClr val="F59E0B"/>
                </a:solidFill>
                <a:latin typeface="Arial Black"/>
              </a:defRPr>
            </a:pPr>
            <a:r>
              <a:t>Language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08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50" b="0">
                <a:solidFill>
                  <a:srgbClr val="475569"/>
                </a:solidFill>
                <a:latin typeface="Calibri"/>
              </a:defRPr>
            </a:pPr>
            <a:r>
              <a:t>Apps like Duolingo use AI to</a:t>
            </a:r>
            <a:br/>
            <a:r>
              <a:t>create adaptive lessons, provide</a:t>
            </a:r>
            <a:br/>
            <a:r>
              <a:t>pronunciation feedback, and</a:t>
            </a:r>
            <a:br/>
            <a:r>
              <a:t>simulate real conversations —</a:t>
            </a:r>
            <a:br/>
            <a:r>
              <a:t>making language learning more</a:t>
            </a:r>
            <a:br/>
            <a:r>
              <a:t>engaging and effective.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32120"/>
            <a:ext cx="10698480" cy="914400"/>
          </a:xfrm>
          <a:prstGeom prst="roundRect">
            <a:avLst/>
          </a:prstGeom>
          <a:solidFill>
            <a:srgbClr val="FEFBEB"/>
          </a:solidFill>
          <a:ln w="190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924E0F"/>
                </a:solidFill>
                <a:latin typeface="Calibri"/>
              </a:defRPr>
            </a:pPr>
            <a:r>
              <a:t>📊  Research shows AI tutoring can improve student performance by up to 30% compared to traditional classroom instruction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400" b="1">
                <a:solidFill>
                  <a:srgbClr val="5B21B6"/>
                </a:solidFill>
                <a:latin typeface="Arial Black"/>
              </a:defRPr>
            </a:pPr>
            <a: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Arial Black"/>
              </a:defRPr>
            </a:pPr>
            <a:r>
              <a:t>AI Tools Students Are Using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303520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200" b="0">
                <a:solidFill>
                  <a:srgbClr val="0F172A"/>
                </a:solidFill>
                <a:latin typeface="Segoe UI Emoji"/>
              </a:defRPr>
            </a:pPr>
            <a: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800" b="1">
                <a:solidFill>
                  <a:srgbClr val="5B21B6"/>
                </a:solidFill>
                <a:latin typeface="Arial Black"/>
              </a:defRPr>
            </a:pPr>
            <a: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Conversational AI that helps</a:t>
            </a:r>
            <a:br/>
            <a:r>
              <a:t>with research, brainstorming,</a:t>
            </a:r>
            <a:br/>
            <a:r>
              <a:t>writing assistance, and</a:t>
            </a:r>
            <a:br/>
            <a:r>
              <a:t>explaining complex topics</a:t>
            </a:r>
            <a:br/>
            <a:r>
              <a:t>in simple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920240"/>
            <a:ext cx="53035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920240"/>
            <a:ext cx="530352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200" b="0">
                <a:solidFill>
                  <a:srgbClr val="0F172A"/>
                </a:solidFill>
                <a:latin typeface="Segoe UI Emoji"/>
              </a:defRPr>
            </a:pPr>
            <a:r>
              <a:t>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800" b="1">
                <a:solidFill>
                  <a:srgbClr val="4338CA"/>
                </a:solidFill>
                <a:latin typeface="Arial Black"/>
              </a:defRPr>
            </a:pPr>
            <a:r>
              <a:t>Grammarly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AI-powered writing assistant</a:t>
            </a:r>
            <a:br/>
            <a:r>
              <a:t>that checks grammar, tone, and</a:t>
            </a:r>
            <a:br/>
            <a:r>
              <a:t>clarity — helping students become</a:t>
            </a:r>
            <a:br/>
            <a:r>
              <a:t>better writers across every</a:t>
            </a:r>
            <a:br/>
            <a:r>
              <a:t>subject.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3035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30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200" b="0">
                <a:solidFill>
                  <a:srgbClr val="0F172A"/>
                </a:solidFill>
                <a:latin typeface="Segoe UI Emoji"/>
              </a:defRPr>
            </a:pPr>
            <a: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800" b="1">
                <a:solidFill>
                  <a:srgbClr val="F59E0B"/>
                </a:solidFill>
                <a:latin typeface="Arial Black"/>
              </a:defRPr>
            </a:pPr>
            <a:r>
              <a:t>Photomath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Scan a math problem and get</a:t>
            </a:r>
            <a:br/>
            <a:r>
              <a:t>step-by-step explanations.</a:t>
            </a:r>
            <a:br/>
            <a:r>
              <a:t>Great for understanding the</a:t>
            </a:r>
            <a:br/>
            <a:r>
              <a:t>"how" behind the answer,</a:t>
            </a:r>
            <a:br/>
            <a:r>
              <a:t>not just the answer itself.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297680"/>
            <a:ext cx="53035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4297680"/>
            <a:ext cx="53035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2200" b="0">
                <a:solidFill>
                  <a:srgbClr val="0F172A"/>
                </a:solidFill>
                <a:latin typeface="Segoe UI Emoji"/>
              </a:defRPr>
            </a:pPr>
            <a:r>
              <a:t>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800" b="1">
                <a:solidFill>
                  <a:srgbClr val="8B5CF6"/>
                </a:solidFill>
                <a:latin typeface="Arial Black"/>
              </a:defRPr>
            </a:pPr>
            <a:r>
              <a:t>Quizlet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Creates personalized flashcards,</a:t>
            </a:r>
            <a:br/>
            <a:r>
              <a:t>practice tests, and study plans</a:t>
            </a:r>
            <a:br/>
            <a:r>
              <a:t>from your notes — using AI</a:t>
            </a:r>
            <a:br/>
            <a:r>
              <a:t>to make studying smarter</a:t>
            </a:r>
            <a:br/>
            <a:r>
              <a:t>and more efficient.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400" b="1">
                <a:solidFill>
                  <a:srgbClr val="5B21B6"/>
                </a:solidFill>
                <a:latin typeface="Arial Black"/>
              </a:defRPr>
            </a:pPr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Arial Black"/>
              </a:defRPr>
            </a:pPr>
            <a:r>
              <a:t>Benefits &amp;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2194560" cy="4572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1400" b="1">
                <a:solidFill>
                  <a:srgbClr val="10B981"/>
                </a:solidFill>
                <a:latin typeface="Arial Black"/>
              </a:defRPr>
            </a:pPr>
            <a:r>
              <a:t>✅  BENEFITS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271576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974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Personalized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6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Adapts to individual student needs, pace, and learning preferences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28269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2644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24/7 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93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Students can get help anytime — not just during school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3849624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8313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Engaging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599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Interactive lessons, gamification, and multimedia make learning fun</a:t>
            </a:r>
          </a:p>
        </p:txBody>
      </p:sp>
      <p:sp>
        <p:nvSpPr>
          <p:cNvPr id="19" name="Oval 18"/>
          <p:cNvSpPr/>
          <p:nvPr/>
        </p:nvSpPr>
        <p:spPr>
          <a:xfrm>
            <a:off x="1143000" y="441655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39826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Teacher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268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Automates grading and admin tasks, freeing teachers to teach</a:t>
            </a:r>
          </a:p>
        </p:txBody>
      </p:sp>
      <p:sp>
        <p:nvSpPr>
          <p:cNvPr id="22" name="Oval 21"/>
          <p:cNvSpPr/>
          <p:nvPr/>
        </p:nvSpPr>
        <p:spPr>
          <a:xfrm>
            <a:off x="1143000" y="4983479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9651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Accessibility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937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Text-to-speech, translation, and assistive tools help all learners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" y="555040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5321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Data-Driven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Identifies learning gaps so teachers can target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92024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92024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0" y="2103120"/>
            <a:ext cx="219456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1400" b="1">
                <a:solidFill>
                  <a:srgbClr val="EF4444"/>
                </a:solidFill>
                <a:latin typeface="Arial Black"/>
              </a:defRPr>
            </a:pPr>
            <a:r>
              <a:t>⚠️  CONCERNS</a:t>
            </a:r>
          </a:p>
        </p:txBody>
      </p:sp>
      <p:sp>
        <p:nvSpPr>
          <p:cNvPr id="32" name="Oval 31"/>
          <p:cNvSpPr/>
          <p:nvPr/>
        </p:nvSpPr>
        <p:spPr>
          <a:xfrm>
            <a:off x="6720840" y="271576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6974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Academic Integrity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926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Easy access to AI raises plagiarism and cheating risks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3282696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2644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Over-Reliance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493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Students may skip learning fundamentals by leaning on AI</a:t>
            </a:r>
          </a:p>
        </p:txBody>
      </p:sp>
      <p:sp>
        <p:nvSpPr>
          <p:cNvPr id="38" name="Oval 37"/>
          <p:cNvSpPr/>
          <p:nvPr/>
        </p:nvSpPr>
        <p:spPr>
          <a:xfrm>
            <a:off x="6720840" y="3849624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8313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Privacy Issues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0599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AI tools collect student data — who owns it and how is it used?</a:t>
            </a:r>
          </a:p>
        </p:txBody>
      </p:sp>
      <p:sp>
        <p:nvSpPr>
          <p:cNvPr id="41" name="Oval 40"/>
          <p:cNvSpPr/>
          <p:nvPr/>
        </p:nvSpPr>
        <p:spPr>
          <a:xfrm>
            <a:off x="6720840" y="441655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439826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Equity 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6268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Not all students have equal access to devices and internet</a:t>
            </a:r>
          </a:p>
        </p:txBody>
      </p:sp>
      <p:sp>
        <p:nvSpPr>
          <p:cNvPr id="44" name="Oval 43"/>
          <p:cNvSpPr/>
          <p:nvPr/>
        </p:nvSpPr>
        <p:spPr>
          <a:xfrm>
            <a:off x="6720840" y="4983479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9651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Misinformation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1937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AI can produce confident-sounding but incorrect information</a:t>
            </a:r>
          </a:p>
        </p:txBody>
      </p:sp>
      <p:sp>
        <p:nvSpPr>
          <p:cNvPr id="47" name="Oval 46"/>
          <p:cNvSpPr/>
          <p:nvPr/>
        </p:nvSpPr>
        <p:spPr>
          <a:xfrm>
            <a:off x="6720840" y="555040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55321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Arial Black"/>
              </a:defRPr>
            </a:pPr>
            <a:r>
              <a:t>Social Isolation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Screen-heavy learning may reduce peer interaction and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400" b="1">
                <a:solidFill>
                  <a:srgbClr val="A5B4FC"/>
                </a:solidFill>
                <a:latin typeface="Arial Black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4883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2000" b="1">
                <a:solidFill>
                  <a:srgbClr val="1E0A3E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2140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0">
                <a:solidFill>
                  <a:srgbClr val="E2E8F0"/>
                </a:solidFill>
                <a:latin typeface="Calibri"/>
              </a:defRPr>
            </a:pPr>
            <a:r>
              <a:t>AI is already here — and it's transforming how high school</a:t>
            </a:r>
            <a:br/>
            <a:r>
              <a:t>students learn, study, and prepare for the future.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2000" b="1">
                <a:solidFill>
                  <a:srgbClr val="1E0A3E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9008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0">
                <a:solidFill>
                  <a:srgbClr val="E2E8F0"/>
                </a:solidFill>
                <a:latin typeface="Calibri"/>
              </a:defRPr>
            </a:pPr>
            <a:r>
              <a:t>From personalized tutoring to instant feedback, AI tools are</a:t>
            </a:r>
            <a:br/>
            <a:r>
              <a:t>making education more effective and accessible.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8619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1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2000" b="1">
                <a:solidFill>
                  <a:srgbClr val="1E0A3E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58767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0">
                <a:solidFill>
                  <a:srgbClr val="E2E8F0"/>
                </a:solidFill>
                <a:latin typeface="Calibri"/>
              </a:defRPr>
            </a:pPr>
            <a:r>
              <a:t>The key is balance: leveraging AI's benefits while staying</a:t>
            </a:r>
            <a:br/>
            <a:r>
              <a:t>mindful of its risks and limitations.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5487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005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2000" b="1">
                <a:solidFill>
                  <a:srgbClr val="1E0A3E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27447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600" b="0">
                <a:solidFill>
                  <a:srgbClr val="E2E8F0"/>
                </a:solidFill>
                <a:latin typeface="Calibri"/>
              </a:defRPr>
            </a:pPr>
            <a:r>
              <a:t>Digital literacy and AI awareness are essential skills for</a:t>
            </a:r>
            <a:br/>
            <a:r>
              <a:t>success in the 21st-century world.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486400"/>
            <a:ext cx="6675120" cy="1005840"/>
          </a:xfrm>
          <a:prstGeom prst="roundRect">
            <a:avLst/>
          </a:prstGeom>
          <a:solidFill>
            <a:srgbClr val="5B21B6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562356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2200" b="1">
                <a:solidFill>
                  <a:srgbClr val="F59E0B"/>
                </a:solidFill>
                <a:latin typeface="Arial Black"/>
              </a:defRPr>
            </a:pPr>
            <a:r>
              <a:t>🙋  Questions &amp;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60350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1400" b="0">
                <a:solidFill>
                  <a:srgbClr val="C7D2FE"/>
                </a:solidFill>
                <a:latin typeface="Calibri"/>
              </a:defRPr>
            </a:pPr>
            <a:r>
              <a:t>Thank you for listening!  —  Alex, Jordan, Sam, Taylor &amp; Morgan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